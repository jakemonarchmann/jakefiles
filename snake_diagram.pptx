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Define requirements</a:t>
            </a:r>
          </a:p>
          <a:p>
            <a:r>
              <a:t>2. System architecture</a:t>
            </a:r>
          </a:p>
          <a:p>
            <a:r>
              <a:t>3. Hardware design</a:t>
            </a:r>
          </a:p>
          <a:p>
            <a:r>
              <a:t>4. PCB layout</a:t>
            </a:r>
          </a:p>
          <a:p>
            <a:r>
              <a:t>5. Firmware development</a:t>
            </a:r>
          </a:p>
          <a:p>
            <a:r>
              <a:t>6. Unit testing</a:t>
            </a:r>
          </a:p>
          <a:p>
            <a:r>
              <a:t>7. Integration testing</a:t>
            </a:r>
          </a:p>
          <a:p>
            <a:r>
              <a:t>8. Environmental test</a:t>
            </a:r>
          </a:p>
          <a:p>
            <a:r>
              <a:t>9. Calibration procedure</a:t>
            </a:r>
          </a:p>
          <a:p>
            <a:r>
              <a:t>10. Final inspection</a:t>
            </a:r>
          </a:p>
          <a:p>
            <a:r>
              <a:t>11. Documentation</a:t>
            </a:r>
          </a:p>
          <a:p>
            <a:r>
              <a:t>12. Production release</a:t>
            </a:r>
          </a:p>
          <a:p>
            <a:r>
              <a:t>13. Customer delivery</a:t>
            </a:r>
          </a:p>
          <a:p>
            <a:r>
              <a:t>14. Field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chemeClr val="dk1"/>
                </a:solidFill>
                <a:latin typeface="Lato"/>
              </a:rPr>
              <a:t>Process Flow</a:t>
            </a:r>
          </a:p>
        </p:txBody>
      </p:sp>
      <p:sp>
        <p:nvSpPr>
          <p:cNvPr id="3" name="box_000"/>
          <p:cNvSpPr/>
          <p:nvPr/>
        </p:nvSpPr>
        <p:spPr>
          <a:xfrm>
            <a:off x="411480" y="1097280"/>
            <a:ext cx="1444752" cy="9144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0">
                <a:solidFill>
                  <a:schemeClr val="lt1"/>
                </a:solidFill>
                <a:latin typeface="Lato"/>
              </a:rPr>
              <a:t>1. Define requirements</a:t>
            </a:r>
          </a:p>
        </p:txBody>
      </p:sp>
      <p:sp>
        <p:nvSpPr>
          <p:cNvPr id="4" name="box_001"/>
          <p:cNvSpPr/>
          <p:nvPr/>
        </p:nvSpPr>
        <p:spPr>
          <a:xfrm>
            <a:off x="2057400" y="1097280"/>
            <a:ext cx="1444752" cy="9144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0">
                <a:solidFill>
                  <a:schemeClr val="lt1"/>
                </a:solidFill>
                <a:latin typeface="Lato"/>
              </a:rPr>
              <a:t>2. System architecture</a:t>
            </a:r>
          </a:p>
        </p:txBody>
      </p:sp>
      <p:sp>
        <p:nvSpPr>
          <p:cNvPr id="5" name="box_002"/>
          <p:cNvSpPr/>
          <p:nvPr/>
        </p:nvSpPr>
        <p:spPr>
          <a:xfrm>
            <a:off x="3703320" y="1097280"/>
            <a:ext cx="1444752" cy="9144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0">
                <a:solidFill>
                  <a:schemeClr val="lt1"/>
                </a:solidFill>
                <a:latin typeface="Lato"/>
              </a:rPr>
              <a:t>3. Hardware design</a:t>
            </a:r>
          </a:p>
        </p:txBody>
      </p:sp>
      <p:sp>
        <p:nvSpPr>
          <p:cNvPr id="6" name="box_003"/>
          <p:cNvSpPr/>
          <p:nvPr/>
        </p:nvSpPr>
        <p:spPr>
          <a:xfrm>
            <a:off x="5349240" y="1097280"/>
            <a:ext cx="1444752" cy="9144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0">
                <a:solidFill>
                  <a:schemeClr val="lt1"/>
                </a:solidFill>
                <a:latin typeface="Lato"/>
              </a:rPr>
              <a:t>4. PCB layout</a:t>
            </a:r>
          </a:p>
        </p:txBody>
      </p:sp>
      <p:sp>
        <p:nvSpPr>
          <p:cNvPr id="7" name="box_004"/>
          <p:cNvSpPr/>
          <p:nvPr/>
        </p:nvSpPr>
        <p:spPr>
          <a:xfrm>
            <a:off x="6995160" y="1097280"/>
            <a:ext cx="1444752" cy="9144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0">
                <a:solidFill>
                  <a:schemeClr val="lt1"/>
                </a:solidFill>
                <a:latin typeface="Lato"/>
              </a:rPr>
              <a:t>5. Firmware development</a:t>
            </a:r>
          </a:p>
        </p:txBody>
      </p:sp>
      <p:sp>
        <p:nvSpPr>
          <p:cNvPr id="8" name="box_005"/>
          <p:cNvSpPr/>
          <p:nvPr/>
        </p:nvSpPr>
        <p:spPr>
          <a:xfrm>
            <a:off x="8641080" y="1097280"/>
            <a:ext cx="1444752" cy="9144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0">
                <a:solidFill>
                  <a:schemeClr val="lt1"/>
                </a:solidFill>
                <a:latin typeface="Lato"/>
              </a:rPr>
              <a:t>6. Unit testing</a:t>
            </a:r>
          </a:p>
        </p:txBody>
      </p:sp>
      <p:sp>
        <p:nvSpPr>
          <p:cNvPr id="9" name="box_006"/>
          <p:cNvSpPr/>
          <p:nvPr/>
        </p:nvSpPr>
        <p:spPr>
          <a:xfrm>
            <a:off x="10287000" y="1097280"/>
            <a:ext cx="1444752" cy="9144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0">
                <a:solidFill>
                  <a:schemeClr val="lt1"/>
                </a:solidFill>
                <a:latin typeface="Lato"/>
              </a:rPr>
              <a:t>7. Integration testing</a:t>
            </a:r>
          </a:p>
        </p:txBody>
      </p:sp>
      <p:sp>
        <p:nvSpPr>
          <p:cNvPr id="10" name="box_007"/>
          <p:cNvSpPr/>
          <p:nvPr/>
        </p:nvSpPr>
        <p:spPr>
          <a:xfrm>
            <a:off x="411480" y="2743200"/>
            <a:ext cx="1444752" cy="9144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0">
                <a:solidFill>
                  <a:schemeClr val="lt1"/>
                </a:solidFill>
                <a:latin typeface="Lato"/>
              </a:rPr>
              <a:t>8. Environmental test</a:t>
            </a:r>
          </a:p>
        </p:txBody>
      </p:sp>
      <p:sp>
        <p:nvSpPr>
          <p:cNvPr id="11" name="box_008"/>
          <p:cNvSpPr/>
          <p:nvPr/>
        </p:nvSpPr>
        <p:spPr>
          <a:xfrm>
            <a:off x="2057400" y="2743200"/>
            <a:ext cx="1444752" cy="9144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0">
                <a:solidFill>
                  <a:schemeClr val="lt1"/>
                </a:solidFill>
                <a:latin typeface="Lato"/>
              </a:rPr>
              <a:t>9. Calibration procedure</a:t>
            </a:r>
          </a:p>
        </p:txBody>
      </p:sp>
      <p:sp>
        <p:nvSpPr>
          <p:cNvPr id="12" name="box_009"/>
          <p:cNvSpPr/>
          <p:nvPr/>
        </p:nvSpPr>
        <p:spPr>
          <a:xfrm>
            <a:off x="3703320" y="2743200"/>
            <a:ext cx="1444752" cy="9144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0">
                <a:solidFill>
                  <a:schemeClr val="lt1"/>
                </a:solidFill>
                <a:latin typeface="Lato"/>
              </a:rPr>
              <a:t>10. Final inspection</a:t>
            </a:r>
          </a:p>
        </p:txBody>
      </p:sp>
      <p:sp>
        <p:nvSpPr>
          <p:cNvPr id="13" name="box_010"/>
          <p:cNvSpPr/>
          <p:nvPr/>
        </p:nvSpPr>
        <p:spPr>
          <a:xfrm>
            <a:off x="5349240" y="2743200"/>
            <a:ext cx="1444752" cy="9144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0">
                <a:solidFill>
                  <a:schemeClr val="lt1"/>
                </a:solidFill>
                <a:latin typeface="Lato"/>
              </a:rPr>
              <a:t>11. Documentation</a:t>
            </a:r>
          </a:p>
        </p:txBody>
      </p:sp>
      <p:sp>
        <p:nvSpPr>
          <p:cNvPr id="14" name="box_011"/>
          <p:cNvSpPr/>
          <p:nvPr/>
        </p:nvSpPr>
        <p:spPr>
          <a:xfrm>
            <a:off x="6995160" y="2743200"/>
            <a:ext cx="1444752" cy="9144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0">
                <a:solidFill>
                  <a:schemeClr val="lt1"/>
                </a:solidFill>
                <a:latin typeface="Lato"/>
              </a:rPr>
              <a:t>12. Production release</a:t>
            </a:r>
          </a:p>
        </p:txBody>
      </p:sp>
      <p:sp>
        <p:nvSpPr>
          <p:cNvPr id="15" name="box_012"/>
          <p:cNvSpPr/>
          <p:nvPr/>
        </p:nvSpPr>
        <p:spPr>
          <a:xfrm>
            <a:off x="8641080" y="2743200"/>
            <a:ext cx="1444752" cy="9144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0">
                <a:solidFill>
                  <a:schemeClr val="lt1"/>
                </a:solidFill>
                <a:latin typeface="Lato"/>
              </a:rPr>
              <a:t>13. Customer delivery</a:t>
            </a:r>
          </a:p>
        </p:txBody>
      </p:sp>
      <p:sp>
        <p:nvSpPr>
          <p:cNvPr id="16" name="box_013"/>
          <p:cNvSpPr/>
          <p:nvPr/>
        </p:nvSpPr>
        <p:spPr>
          <a:xfrm>
            <a:off x="10287000" y="2743200"/>
            <a:ext cx="1444752" cy="9144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0">
                <a:solidFill>
                  <a:schemeClr val="lt1"/>
                </a:solidFill>
                <a:latin typeface="Lato"/>
              </a:rPr>
              <a:t>14. Field validation</a:t>
            </a:r>
          </a:p>
        </p:txBody>
      </p:sp>
      <p:cxnSp>
        <p:nvCxnSpPr>
          <p:cNvPr id="17" name="Connector 16"/>
          <p:cNvCxnSpPr>
            <a:stCxn id="3" idx="3"/>
            <a:endCxn id="4" idx="1"/>
          </p:cNvCxnSpPr>
          <p:nvPr/>
        </p:nvCxnSpPr>
        <p:spPr>
          <a:xfrm>
            <a:off x="1856232" y="1554480"/>
            <a:ext cx="201168" cy="0"/>
          </a:xfrm>
          <a:prstGeom prst="line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4" idx="3"/>
            <a:endCxn id="5" idx="1"/>
          </p:cNvCxnSpPr>
          <p:nvPr/>
        </p:nvCxnSpPr>
        <p:spPr>
          <a:xfrm>
            <a:off x="3502152" y="1554480"/>
            <a:ext cx="201168" cy="0"/>
          </a:xfrm>
          <a:prstGeom prst="line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5" idx="3"/>
            <a:endCxn id="6" idx="1"/>
          </p:cNvCxnSpPr>
          <p:nvPr/>
        </p:nvCxnSpPr>
        <p:spPr>
          <a:xfrm>
            <a:off x="5148072" y="1554480"/>
            <a:ext cx="201168" cy="0"/>
          </a:xfrm>
          <a:prstGeom prst="line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6" idx="3"/>
            <a:endCxn id="7" idx="1"/>
          </p:cNvCxnSpPr>
          <p:nvPr/>
        </p:nvCxnSpPr>
        <p:spPr>
          <a:xfrm>
            <a:off x="6793992" y="1554480"/>
            <a:ext cx="201168" cy="0"/>
          </a:xfrm>
          <a:prstGeom prst="line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7" idx="3"/>
            <a:endCxn id="8" idx="1"/>
          </p:cNvCxnSpPr>
          <p:nvPr/>
        </p:nvCxnSpPr>
        <p:spPr>
          <a:xfrm>
            <a:off x="8439912" y="1554480"/>
            <a:ext cx="201168" cy="0"/>
          </a:xfrm>
          <a:prstGeom prst="line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8" idx="3"/>
            <a:endCxn id="9" idx="1"/>
          </p:cNvCxnSpPr>
          <p:nvPr/>
        </p:nvCxnSpPr>
        <p:spPr>
          <a:xfrm>
            <a:off x="10085832" y="1554480"/>
            <a:ext cx="201168" cy="0"/>
          </a:xfrm>
          <a:prstGeom prst="line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731752" y="1554480"/>
            <a:ext cx="1371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868912" y="1554480"/>
            <a:ext cx="0" cy="82296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33856" y="2377440"/>
            <a:ext cx="1073505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33856" y="2377440"/>
            <a:ext cx="0" cy="365760"/>
          </a:xfrm>
          <a:prstGeom prst="line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0" idx="3"/>
            <a:endCxn id="11" idx="1"/>
          </p:cNvCxnSpPr>
          <p:nvPr/>
        </p:nvCxnSpPr>
        <p:spPr>
          <a:xfrm>
            <a:off x="1856232" y="3200400"/>
            <a:ext cx="201168" cy="0"/>
          </a:xfrm>
          <a:prstGeom prst="line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1" idx="3"/>
            <a:endCxn id="12" idx="1"/>
          </p:cNvCxnSpPr>
          <p:nvPr/>
        </p:nvCxnSpPr>
        <p:spPr>
          <a:xfrm>
            <a:off x="3502152" y="3200400"/>
            <a:ext cx="201168" cy="0"/>
          </a:xfrm>
          <a:prstGeom prst="line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2" idx="3"/>
            <a:endCxn id="13" idx="1"/>
          </p:cNvCxnSpPr>
          <p:nvPr/>
        </p:nvCxnSpPr>
        <p:spPr>
          <a:xfrm>
            <a:off x="5148072" y="3200400"/>
            <a:ext cx="201168" cy="0"/>
          </a:xfrm>
          <a:prstGeom prst="line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13" idx="3"/>
            <a:endCxn id="14" idx="1"/>
          </p:cNvCxnSpPr>
          <p:nvPr/>
        </p:nvCxnSpPr>
        <p:spPr>
          <a:xfrm>
            <a:off x="6793992" y="3200400"/>
            <a:ext cx="201168" cy="0"/>
          </a:xfrm>
          <a:prstGeom prst="line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14" idx="3"/>
            <a:endCxn id="15" idx="1"/>
          </p:cNvCxnSpPr>
          <p:nvPr/>
        </p:nvCxnSpPr>
        <p:spPr>
          <a:xfrm>
            <a:off x="8439912" y="3200400"/>
            <a:ext cx="201168" cy="0"/>
          </a:xfrm>
          <a:prstGeom prst="line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15" idx="3"/>
            <a:endCxn id="16" idx="1"/>
          </p:cNvCxnSpPr>
          <p:nvPr/>
        </p:nvCxnSpPr>
        <p:spPr>
          <a:xfrm>
            <a:off x="10085832" y="3200400"/>
            <a:ext cx="201168" cy="0"/>
          </a:xfrm>
          <a:prstGeom prst="line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